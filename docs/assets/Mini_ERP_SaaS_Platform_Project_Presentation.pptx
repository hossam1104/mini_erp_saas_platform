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Visual reference from web image search. Project factual content sourced from connected Jira and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based on project instructions, approved PRD/architecture baselines and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flow based on approved Procurement, Inventory, Finance and B2B Sales BRDs.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Technology baseline from docs/01_Technology_Architecture_Baseline.md.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Epic maturity percentages from docs/staticts.md; these are production-capability estimates, not Jira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model inferred from current project governance and GitHub/Jira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Milestones from live Jira and GitHub PR history; SQL gate remains explicitly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Jira query at approximately 05:51 +03:00 on 11 Aug 2026 shows MESP-36 In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Saudi launch gates from project tracker and open Jira decision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from docs/staticts.md; planning estimate, not delivery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Open-gate categories from docs/staticts.md and live Jira decision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 from docs/staticts.md (05:20 snapshot) reconciled with live Jira activation of MESP-36 at 05:51.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esp_warehouse_dashboard.jpg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32B">
              <a:alpha val="79000"/>
            </a:srgbClr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B132B">
              <a:alpha val="96000"/>
            </a:srgbClr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640080"/>
            <a:ext cx="2194560" cy="310896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658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 1 • PROJECT UPDATE</a:t>
            </a:r>
            <a:endParaRPr lang="en-US" sz="84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216152"/>
            <a:ext cx="5029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SaaS Platform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94436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E8F0F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coherent, bilingual and multi-tenant ERP foundation for Saudi SMEs</a:t>
            </a:r>
            <a:endParaRPr lang="en-US" sz="162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30752"/>
            <a:ext cx="5047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20" dirty="0">
                <a:solidFill>
                  <a:srgbClr val="D7E5E8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منصة ERP سحابية متعددة المستأجرين للشركات الصغيرة والمتوسطة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749808" y="4407408"/>
            <a:ext cx="4572000" cy="0"/>
          </a:xfrm>
          <a:prstGeom prst="line">
            <a:avLst/>
          </a:prstGeom>
          <a:noFill/>
          <a:ln w="25400">
            <a:solidFill>
              <a:srgbClr val="46B7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60857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B2B-first</a:t>
            </a:r>
            <a:pPr algn="l" indent="0" marL="0">
              <a:buNone/>
            </a:pPr>
            <a:r>
              <a:rPr lang="en-US" sz="1130" dirty="0">
                <a:solidFill>
                  <a:srgbClr val="B7CE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•  </a:t>
            </a:r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Saudi-ready</a:t>
            </a:r>
            <a:pPr algn="l" indent="0" marL="0">
              <a:buNone/>
            </a:pPr>
            <a:r>
              <a:rPr lang="en-US" sz="1130" dirty="0">
                <a:solidFill>
                  <a:srgbClr val="B7CE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•  </a:t>
            </a:r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Audit-first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749808" y="57972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299" y="5881787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16152" y="58064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GitHub delivery evidence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3017520" y="5797296"/>
            <a:ext cx="384048" cy="384048"/>
          </a:xfrm>
          <a:prstGeom prst="ellipse">
            <a:avLst/>
          </a:prstGeom>
          <a:solidFill>
            <a:srgbClr val="2684FF"/>
          </a:solidFill>
          <a:ln w="12700">
            <a:solidFill>
              <a:srgbClr val="268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2011" y="5881787"/>
            <a:ext cx="215067" cy="215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83864" y="58064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 scope &amp; governance</a:t>
            </a:r>
            <a:endParaRPr lang="en-US" sz="870" dirty="0"/>
          </a:p>
        </p:txBody>
      </p:sp>
      <p:sp>
        <p:nvSpPr>
          <p:cNvPr id="18" name="Text 13"/>
          <p:cNvSpPr txBox="1"/>
          <p:nvPr/>
        </p:nvSpPr>
        <p:spPr>
          <a:xfrm>
            <a:off x="8165592" y="62544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Stakeholder presentation • 11 Aug 2026</a:t>
            </a:r>
            <a:endParaRPr lang="en-US" sz="820" dirty="0"/>
          </a:p>
        </p:txBody>
      </p:sp>
      <p:sp>
        <p:nvSpPr>
          <p:cNvPr id="19" name="Text 14"/>
          <p:cNvSpPr txBox="1"/>
          <p:nvPr/>
        </p:nvSpPr>
        <p:spPr>
          <a:xfrm>
            <a:off x="7836408" y="6547104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60" dirty="0">
                <a:solidFill>
                  <a:srgbClr val="D1DBE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reference: Exploz warehouse-management illustration</a:t>
            </a:r>
            <a:endParaRPr lang="en-US" sz="66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NORTH STAR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coherent operating system for the SME back office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 1 prioritizes dependable B2B transactions, Saudi launch readiness, tenant isolation and operational auditability.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965960"/>
            <a:ext cx="3904488" cy="3621024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4942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 1 business promise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724912"/>
            <a:ext cx="32186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Purchase → Stock → Sell → Collect → Post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8221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5E1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reusable SaaS platform — not a customer-specific fork.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7824" y="4791456"/>
            <a:ext cx="1316736" cy="310896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480974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ERP ONLY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304288" y="4791456"/>
            <a:ext cx="1664208" cy="310896"/>
          </a:xfrm>
          <a:prstGeom prst="roundRect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95728" y="48097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RETAIL POS EXCLUDED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4846320" y="1956816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47488" y="2157984"/>
            <a:ext cx="457200" cy="457200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8072" y="2258568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605272" y="21305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Multi-tenant by design</a:t>
            </a:r>
            <a:endParaRPr lang="en-US" sz="1120" dirty="0"/>
          </a:p>
        </p:txBody>
      </p:sp>
      <p:sp>
        <p:nvSpPr>
          <p:cNvPr id="18" name="Text 15"/>
          <p:cNvSpPr txBox="1"/>
          <p:nvPr/>
        </p:nvSpPr>
        <p:spPr>
          <a:xfrm>
            <a:off x="5605272" y="2459736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→ Tenant → Company / Legal Entity → Branch → Warehouse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8247888" y="1956816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60000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49056" y="2157984"/>
            <a:ext cx="457200" cy="457200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640" y="225856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006840" y="2130552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Bilingual experience</a:t>
            </a:r>
            <a:endParaRPr lang="en-US" sz="112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2459736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Arabic + English with RTL as a Release-1 product requirement</a:t>
            </a:r>
            <a:endParaRPr lang="en-US" sz="870" dirty="0"/>
          </a:p>
        </p:txBody>
      </p:sp>
      <p:sp>
        <p:nvSpPr>
          <p:cNvPr id="24" name="Shape 20"/>
          <p:cNvSpPr/>
          <p:nvPr/>
        </p:nvSpPr>
        <p:spPr>
          <a:xfrm>
            <a:off x="4846320" y="3209544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6000000000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47488" y="3410712"/>
            <a:ext cx="457200" cy="457200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8072" y="3511296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605272" y="33832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Multi-currency foundation</a:t>
            </a:r>
            <a:endParaRPr lang="en-US" sz="1120" dirty="0"/>
          </a:p>
        </p:txBody>
      </p:sp>
      <p:sp>
        <p:nvSpPr>
          <p:cNvPr id="28" name="Text 23"/>
          <p:cNvSpPr txBox="1"/>
          <p:nvPr/>
        </p:nvSpPr>
        <p:spPr>
          <a:xfrm>
            <a:off x="5605272" y="3712464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 defaults for Saudi tenants with governed FX and posting boundaries</a:t>
            </a:r>
            <a:endParaRPr lang="en-US" sz="870" dirty="0"/>
          </a:p>
        </p:txBody>
      </p:sp>
      <p:sp>
        <p:nvSpPr>
          <p:cNvPr id="29" name="Shape 24"/>
          <p:cNvSpPr/>
          <p:nvPr/>
        </p:nvSpPr>
        <p:spPr>
          <a:xfrm>
            <a:off x="8247888" y="3209544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600000000000000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449056" y="3410712"/>
            <a:ext cx="457200" cy="457200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9640" y="3511296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06840" y="338328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Auditable &amp; fail-closed</a:t>
            </a:r>
            <a:endParaRPr lang="en-US" sz="1120" dirty="0"/>
          </a:p>
        </p:txBody>
      </p:sp>
      <p:sp>
        <p:nvSpPr>
          <p:cNvPr id="33" name="Text 27"/>
          <p:cNvSpPr txBox="1"/>
          <p:nvPr/>
        </p:nvSpPr>
        <p:spPr>
          <a:xfrm>
            <a:off x="9006840" y="3712464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Server-authoritative scope, immutable evidence and controlled reversals</a:t>
            </a:r>
            <a:endParaRPr lang="en-US" sz="870" dirty="0"/>
          </a:p>
        </p:txBody>
      </p:sp>
      <p:sp>
        <p:nvSpPr>
          <p:cNvPr id="34" name="Shape 28"/>
          <p:cNvSpPr/>
          <p:nvPr/>
        </p:nvSpPr>
        <p:spPr>
          <a:xfrm>
            <a:off x="4846320" y="4462272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6e+24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047488" y="4663440"/>
            <a:ext cx="457200" cy="457200"/>
          </a:xfrm>
          <a:prstGeom prst="ellipse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8072" y="476402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605272" y="46360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launch posture</a:t>
            </a:r>
            <a:endParaRPr lang="en-US" sz="1120" dirty="0"/>
          </a:p>
        </p:txBody>
      </p:sp>
      <p:sp>
        <p:nvSpPr>
          <p:cNvPr id="38" name="Text 31"/>
          <p:cNvSpPr txBox="1"/>
          <p:nvPr/>
        </p:nvSpPr>
        <p:spPr>
          <a:xfrm>
            <a:off x="5605272" y="496519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Tax, e-invoice, privacy/residency and legal validation are explicit gates</a:t>
            </a:r>
            <a:endParaRPr lang="en-US" sz="870" dirty="0"/>
          </a:p>
        </p:txBody>
      </p:sp>
      <p:sp>
        <p:nvSpPr>
          <p:cNvPr id="39" name="Shape 32"/>
          <p:cNvSpPr/>
          <p:nvPr/>
        </p:nvSpPr>
        <p:spPr>
          <a:xfrm>
            <a:off x="8247888" y="4462272"/>
            <a:ext cx="312724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1.6e+29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449056" y="4663440"/>
            <a:ext cx="457200" cy="457200"/>
          </a:xfrm>
          <a:prstGeom prst="ellipse">
            <a:avLst/>
          </a:prstGeom>
          <a:solidFill>
            <a:srgbClr val="10213F"/>
          </a:solidFill>
          <a:ln w="12700">
            <a:solidFill>
              <a:srgbClr val="10213F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9640" y="4764024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006840" y="4636008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Configuration-led growth</a:t>
            </a:r>
            <a:endParaRPr lang="en-US" sz="1120" dirty="0"/>
          </a:p>
        </p:txBody>
      </p:sp>
      <p:sp>
        <p:nvSpPr>
          <p:cNvPr id="43" name="Text 35"/>
          <p:cNvSpPr txBox="1"/>
          <p:nvPr/>
        </p:nvSpPr>
        <p:spPr>
          <a:xfrm>
            <a:off x="9006840" y="4965192"/>
            <a:ext cx="216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Additional tenants, countries and integrations without customer-specific core logic</a:t>
            </a:r>
            <a:endParaRPr lang="en-US" sz="870" dirty="0"/>
          </a:p>
        </p:txBody>
      </p:sp>
      <p:sp>
        <p:nvSpPr>
          <p:cNvPr id="44" name="Text 36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+ GitHub project sources • 11 Aug 2026</a:t>
            </a:r>
            <a:endParaRPr lang="en-US" sz="750" dirty="0"/>
          </a:p>
        </p:txBody>
      </p:sp>
      <p:sp>
        <p:nvSpPr>
          <p:cNvPr id="45" name="Text 37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 1 VALUE STREAM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single B2B transaction chain — with inventory and finance consequences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documents move through controlled states; posted results reconcile to stock, receivables/payables, cash and the General Ledger.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19933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1.6e+3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40864"/>
            <a:ext cx="475488" cy="475488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567" y="2445471"/>
            <a:ext cx="266273" cy="26627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08176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529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Purchase Order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Supplier Confirmation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97480" y="2944368"/>
            <a:ext cx="73152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6352" y="2148840"/>
            <a:ext cx="19933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1.6e+3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80944" y="2340864"/>
            <a:ext cx="475488" cy="475488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5551" y="2445471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66160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RECEIVE &amp; STOCK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980944" y="28529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Goods Receipt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Immutable stock ledger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55464" y="2944368"/>
            <a:ext cx="73152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974336" y="2148840"/>
            <a:ext cx="19933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1.6e+44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38928" y="2340864"/>
            <a:ext cx="475488" cy="475488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43535" y="2445471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724144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INVOICE &amp; POST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138928" y="28529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 / GL posting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Reconciliation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013448" y="2944368"/>
            <a:ext cx="73152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132320" y="2148840"/>
            <a:ext cx="19933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1.6e+49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96912" y="2340864"/>
            <a:ext cx="475488" cy="475488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1519" y="2445471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882128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SELL &amp; DELIVER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296912" y="28529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 Order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 / Invoice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171432" y="2944368"/>
            <a:ext cx="73152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290304" y="2148840"/>
            <a:ext cx="199339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1.6e+54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454896" y="2340864"/>
            <a:ext cx="475488" cy="475488"/>
          </a:xfrm>
          <a:prstGeom prst="ellipse">
            <a:avLst/>
          </a:prstGeom>
          <a:solidFill>
            <a:srgbClr val="10213F"/>
          </a:solidFill>
          <a:ln w="12700">
            <a:solidFill>
              <a:srgbClr val="10213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9503" y="2445471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040112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21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 &amp; REPORT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9454896" y="28529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Receipt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 / Reporting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58368" y="4114800"/>
            <a:ext cx="10625328" cy="1170432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896112" y="4315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 RAIL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94560" y="4334256"/>
            <a:ext cx="246888" cy="24688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514600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&amp; Access</a:t>
            </a:r>
            <a:endParaRPr lang="en-US" sz="77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39312" y="4334256"/>
            <a:ext cx="246888" cy="24688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959352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Tenant / Org Scope</a:t>
            </a:r>
            <a:endParaRPr lang="en-US" sz="77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84064" y="4334256"/>
            <a:ext cx="246888" cy="24688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404104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Data</a:t>
            </a:r>
            <a:endParaRPr lang="en-US" sz="77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28816" y="4334256"/>
            <a:ext cx="246888" cy="246888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48856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&amp; Audit</a:t>
            </a:r>
            <a:endParaRPr lang="en-US" sz="77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73568" y="4334256"/>
            <a:ext cx="246888" cy="24688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293608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 / AR / RTL</a:t>
            </a:r>
            <a:endParaRPr lang="en-US" sz="77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418320" y="4334256"/>
            <a:ext cx="246888" cy="246888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738360" y="427024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Idempotency / Events</a:t>
            </a:r>
            <a:endParaRPr lang="en-US" sz="770" dirty="0"/>
          </a:p>
        </p:txBody>
      </p:sp>
      <p:sp>
        <p:nvSpPr>
          <p:cNvPr id="49" name="Shape 36"/>
          <p:cNvSpPr/>
          <p:nvPr/>
        </p:nvSpPr>
        <p:spPr>
          <a:xfrm>
            <a:off x="658368" y="5623560"/>
            <a:ext cx="10625328" cy="502920"/>
          </a:xfrm>
          <a:prstGeom prst="roundRect">
            <a:avLst/>
          </a:prstGeom>
          <a:solidFill>
            <a:srgbClr val="F8EFD9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896112" y="5724144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684D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Release-1 invariant: posted documents are corrected by controlled reversal — never by silent edit.</a:t>
            </a:r>
            <a:endParaRPr lang="en-US" sz="940" dirty="0"/>
          </a:p>
        </p:txBody>
      </p:sp>
      <p:sp>
        <p:nvSpPr>
          <p:cNvPr id="51" name="Text 38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+ GitHub project sources • 11 Aug 2026</a:t>
            </a:r>
            <a:endParaRPr lang="en-US" sz="750" dirty="0"/>
          </a:p>
        </p:txBody>
      </p:sp>
      <p:sp>
        <p:nvSpPr>
          <p:cNvPr id="52" name="Text 39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BASELINE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 Monolith — structured for one product, one deployable, many tenants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architecture favors explicit ownership and a small production topology over distributed-system overhead.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03120"/>
            <a:ext cx="19019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1.6e+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04288"/>
            <a:ext cx="438912" cy="438912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521" y="2400849"/>
            <a:ext cx="245791" cy="2457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5024" y="2267712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MiniErp.Api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 host • OpenAPI • composition root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2587752" y="2862072"/>
            <a:ext cx="173736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07208" y="2103120"/>
            <a:ext cx="19019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1.5999999999999998e+6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71800" y="2304288"/>
            <a:ext cx="438912" cy="43891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8361" y="2400849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83864" y="2267712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MiniErp.Infrastructure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28803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 Core • adapters • module-owned persistence</a:t>
            </a:r>
            <a:endParaRPr lang="en-US" sz="780" dirty="0"/>
          </a:p>
        </p:txBody>
      </p:sp>
      <p:sp>
        <p:nvSpPr>
          <p:cNvPr id="17" name="Shape 13"/>
          <p:cNvSpPr/>
          <p:nvPr/>
        </p:nvSpPr>
        <p:spPr>
          <a:xfrm>
            <a:off x="4736592" y="2862072"/>
            <a:ext cx="173736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956048" y="2103120"/>
            <a:ext cx="19019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1.5999999999999997e+69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20640" y="2304288"/>
            <a:ext cx="438912" cy="438912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7201" y="2400849"/>
            <a:ext cx="245791" cy="24579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32704" y="2267712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MiniErp.App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120640" y="28803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cases • policies • domain behavior</a:t>
            </a:r>
            <a:endParaRPr lang="en-US" sz="780" dirty="0"/>
          </a:p>
        </p:txBody>
      </p:sp>
      <p:sp>
        <p:nvSpPr>
          <p:cNvPr id="23" name="Shape 18"/>
          <p:cNvSpPr/>
          <p:nvPr/>
        </p:nvSpPr>
        <p:spPr>
          <a:xfrm>
            <a:off x="6885432" y="2862072"/>
            <a:ext cx="173736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104888" y="2103120"/>
            <a:ext cx="190195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1.5999999999999997e+74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69480" y="2304288"/>
            <a:ext cx="438912" cy="438912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6041" y="2400849"/>
            <a:ext cx="245791" cy="24579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781544" y="2267712"/>
            <a:ext cx="10789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MiniErp.Contracts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269480" y="288036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Stable public contracts • no infrastructure</a:t>
            </a:r>
            <a:endParaRPr lang="en-US" sz="780" dirty="0"/>
          </a:p>
        </p:txBody>
      </p:sp>
      <p:sp>
        <p:nvSpPr>
          <p:cNvPr id="29" name="Shape 23"/>
          <p:cNvSpPr/>
          <p:nvPr/>
        </p:nvSpPr>
        <p:spPr>
          <a:xfrm>
            <a:off x="9381744" y="2103120"/>
            <a:ext cx="1956816" cy="1536192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10213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2912" y="2331720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094976" y="225856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Shared SQL Server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9582912" y="280720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D8E5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Module-owned schemas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D8E5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Tenant controls</a:t>
            </a:r>
            <a:endParaRPr lang="en-US" sz="810" dirty="0"/>
          </a:p>
          <a:p>
            <a:pPr algn="l" indent="0" marL="0">
              <a:buNone/>
            </a:pPr>
            <a:r>
              <a:rPr lang="en-US" sz="810" dirty="0">
                <a:solidFill>
                  <a:srgbClr val="D8E5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Optimistic concurrency</a:t>
            </a:r>
            <a:endParaRPr lang="en-US" sz="810" dirty="0"/>
          </a:p>
        </p:txBody>
      </p:sp>
      <p:sp>
        <p:nvSpPr>
          <p:cNvPr id="33" name="Shape 26"/>
          <p:cNvSpPr/>
          <p:nvPr/>
        </p:nvSpPr>
        <p:spPr>
          <a:xfrm>
            <a:off x="9025128" y="2862072"/>
            <a:ext cx="310896" cy="0"/>
          </a:xfrm>
          <a:prstGeom prst="line">
            <a:avLst/>
          </a:prstGeom>
          <a:noFill/>
          <a:ln w="2540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658368" y="4096512"/>
            <a:ext cx="402336" cy="402336"/>
          </a:xfrm>
          <a:prstGeom prst="ellipse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882" y="4185026"/>
            <a:ext cx="225308" cy="22530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70432" y="408736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Angular 22</a:t>
            </a:r>
            <a:endParaRPr lang="en-US" sz="920" dirty="0"/>
          </a:p>
        </p:txBody>
      </p:sp>
      <p:sp>
        <p:nvSpPr>
          <p:cNvPr id="37" name="Text 29"/>
          <p:cNvSpPr txBox="1"/>
          <p:nvPr/>
        </p:nvSpPr>
        <p:spPr>
          <a:xfrm>
            <a:off x="2395728" y="40873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First-party web UI</a:t>
            </a:r>
            <a:endParaRPr lang="en-US" sz="830" dirty="0"/>
          </a:p>
        </p:txBody>
      </p:sp>
      <p:sp>
        <p:nvSpPr>
          <p:cNvPr id="38" name="Shape 30"/>
          <p:cNvSpPr/>
          <p:nvPr/>
        </p:nvSpPr>
        <p:spPr>
          <a:xfrm>
            <a:off x="4361688" y="4096512"/>
            <a:ext cx="402336" cy="402336"/>
          </a:xfrm>
          <a:prstGeom prst="ellipse">
            <a:avLst/>
          </a:prstGeom>
          <a:solidFill>
            <a:srgbClr val="4E77B7"/>
          </a:solidFill>
          <a:ln w="12700">
            <a:solidFill>
              <a:srgbClr val="4E77B7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50202" y="4185026"/>
            <a:ext cx="225308" cy="22530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4873752" y="408736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.NET 10</a:t>
            </a:r>
            <a:endParaRPr lang="en-US" sz="920" dirty="0"/>
          </a:p>
        </p:txBody>
      </p:sp>
      <p:sp>
        <p:nvSpPr>
          <p:cNvPr id="41" name="Text 32"/>
          <p:cNvSpPr txBox="1"/>
          <p:nvPr/>
        </p:nvSpPr>
        <p:spPr>
          <a:xfrm>
            <a:off x="6099048" y="40873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ASP.NET Core Web API</a:t>
            </a:r>
            <a:endParaRPr lang="en-US" sz="830" dirty="0"/>
          </a:p>
        </p:txBody>
      </p:sp>
      <p:sp>
        <p:nvSpPr>
          <p:cNvPr id="42" name="Shape 33"/>
          <p:cNvSpPr/>
          <p:nvPr/>
        </p:nvSpPr>
        <p:spPr>
          <a:xfrm>
            <a:off x="8065008" y="4096512"/>
            <a:ext cx="402336" cy="402336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53522" y="4185026"/>
            <a:ext cx="225308" cy="22530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577072" y="408736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 Core 10</a:t>
            </a:r>
            <a:endParaRPr lang="en-US" sz="920" dirty="0"/>
          </a:p>
        </p:txBody>
      </p:sp>
      <p:sp>
        <p:nvSpPr>
          <p:cNvPr id="45" name="Text 35"/>
          <p:cNvSpPr txBox="1"/>
          <p:nvPr/>
        </p:nvSpPr>
        <p:spPr>
          <a:xfrm>
            <a:off x="9802368" y="40873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Persistence &amp; migrations</a:t>
            </a:r>
            <a:endParaRPr lang="en-US" sz="830" dirty="0"/>
          </a:p>
        </p:txBody>
      </p:sp>
      <p:sp>
        <p:nvSpPr>
          <p:cNvPr id="46" name="Shape 36"/>
          <p:cNvSpPr/>
          <p:nvPr/>
        </p:nvSpPr>
        <p:spPr>
          <a:xfrm>
            <a:off x="658368" y="4937760"/>
            <a:ext cx="402336" cy="402336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6882" y="5026274"/>
            <a:ext cx="225308" cy="22530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170432" y="49286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Docker Compose</a:t>
            </a:r>
            <a:endParaRPr lang="en-US" sz="920" dirty="0"/>
          </a:p>
        </p:txBody>
      </p:sp>
      <p:sp>
        <p:nvSpPr>
          <p:cNvPr id="49" name="Text 38"/>
          <p:cNvSpPr txBox="1"/>
          <p:nvPr/>
        </p:nvSpPr>
        <p:spPr>
          <a:xfrm>
            <a:off x="2395728" y="49286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dependencies</a:t>
            </a:r>
            <a:endParaRPr lang="en-US" sz="830" dirty="0"/>
          </a:p>
        </p:txBody>
      </p:sp>
      <p:sp>
        <p:nvSpPr>
          <p:cNvPr id="50" name="Shape 39"/>
          <p:cNvSpPr/>
          <p:nvPr/>
        </p:nvSpPr>
        <p:spPr>
          <a:xfrm>
            <a:off x="4361688" y="4937760"/>
            <a:ext cx="402336" cy="402336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50202" y="5026274"/>
            <a:ext cx="225308" cy="225308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4873752" y="49286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OpenTelemetry</a:t>
            </a:r>
            <a:endParaRPr lang="en-US" sz="920" dirty="0"/>
          </a:p>
        </p:txBody>
      </p:sp>
      <p:sp>
        <p:nvSpPr>
          <p:cNvPr id="53" name="Text 41"/>
          <p:cNvSpPr txBox="1"/>
          <p:nvPr/>
        </p:nvSpPr>
        <p:spPr>
          <a:xfrm>
            <a:off x="6099048" y="49286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Logs • metrics • traces</a:t>
            </a:r>
            <a:endParaRPr lang="en-US" sz="830" dirty="0"/>
          </a:p>
        </p:txBody>
      </p:sp>
      <p:sp>
        <p:nvSpPr>
          <p:cNvPr id="54" name="Shape 42"/>
          <p:cNvSpPr/>
          <p:nvPr/>
        </p:nvSpPr>
        <p:spPr>
          <a:xfrm>
            <a:off x="8065008" y="4937760"/>
            <a:ext cx="402336" cy="402336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153522" y="5026274"/>
            <a:ext cx="225308" cy="225308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8577072" y="49286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xUnit + Playwright</a:t>
            </a:r>
            <a:endParaRPr lang="en-US" sz="920" dirty="0"/>
          </a:p>
        </p:txBody>
      </p:sp>
      <p:sp>
        <p:nvSpPr>
          <p:cNvPr id="57" name="Text 44"/>
          <p:cNvSpPr txBox="1"/>
          <p:nvPr/>
        </p:nvSpPr>
        <p:spPr>
          <a:xfrm>
            <a:off x="9802368" y="49286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 + browser/API proof</a:t>
            </a:r>
            <a:endParaRPr lang="en-US" sz="830" dirty="0"/>
          </a:p>
        </p:txBody>
      </p:sp>
      <p:sp>
        <p:nvSpPr>
          <p:cNvPr id="58" name="Shape 45"/>
          <p:cNvSpPr/>
          <p:nvPr/>
        </p:nvSpPr>
        <p:spPr>
          <a:xfrm>
            <a:off x="658368" y="5897880"/>
            <a:ext cx="10680192" cy="384048"/>
          </a:xfrm>
          <a:prstGeom prst="roundRect">
            <a:avLst/>
          </a:prstGeom>
          <a:solidFill>
            <a:srgbClr val="F8E3DF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59" name="Text 46"/>
          <p:cNvSpPr txBox="1"/>
          <p:nvPr/>
        </p:nvSpPr>
        <p:spPr>
          <a:xfrm>
            <a:off x="859536" y="59710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7A30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Boundary rule: one module owns each business concept and its tables; cross-module direct table mutation is prohibited.</a:t>
            </a:r>
            <a:endParaRPr lang="en-US" sz="880" dirty="0"/>
          </a:p>
        </p:txBody>
      </p:sp>
      <p:sp>
        <p:nvSpPr>
          <p:cNvPr id="60" name="Text 47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approved Technology Architecture Baseline + live repository state • 11 Aug 2026</a:t>
            </a:r>
            <a:endParaRPr lang="en-US" sz="750" dirty="0"/>
          </a:p>
        </p:txBody>
      </p:sp>
      <p:sp>
        <p:nvSpPr>
          <p:cNvPr id="61" name="Text 48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RELEASE 1 PORTFOLIO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Fifteen Epics — one reusable ERP platform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Production-capability maturity is deliberately separated from Jira workflow completion.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99339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Governance &amp; BRD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2112264" y="211226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70%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768096" y="264261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642616"/>
            <a:ext cx="1203350" cy="118872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9504" y="199339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 Admin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211226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35%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035808" y="264261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2642616"/>
            <a:ext cx="601675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7216" y="199339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&amp; Access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211226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65%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303520" y="264261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2642616"/>
            <a:ext cx="1117397" cy="118872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199339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71232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Multi-Tenancy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211226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75%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571232" y="264261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71232" y="2642616"/>
            <a:ext cx="1289304" cy="118872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2640" y="199339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38944" y="2121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11183112" y="211226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50%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838944" y="264261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8944" y="2642616"/>
            <a:ext cx="859536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22783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Data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2112264" y="334670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68096" y="387705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3877056"/>
            <a:ext cx="687629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9504" y="322783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35808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Procurement</a:t>
            </a:r>
            <a:endParaRPr lang="en-US" sz="880" dirty="0"/>
          </a:p>
        </p:txBody>
      </p:sp>
      <p:sp>
        <p:nvSpPr>
          <p:cNvPr id="38" name="Text 36"/>
          <p:cNvSpPr txBox="1"/>
          <p:nvPr/>
        </p:nvSpPr>
        <p:spPr>
          <a:xfrm>
            <a:off x="4379976" y="334670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4%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3035808" y="387705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5808" y="3877056"/>
            <a:ext cx="68763" cy="118872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57216" y="322783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0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Inventory</a:t>
            </a:r>
            <a:endParaRPr lang="en-US" sz="880" dirty="0"/>
          </a:p>
        </p:txBody>
      </p:sp>
      <p:sp>
        <p:nvSpPr>
          <p:cNvPr id="43" name="Text 41"/>
          <p:cNvSpPr txBox="1"/>
          <p:nvPr/>
        </p:nvSpPr>
        <p:spPr>
          <a:xfrm>
            <a:off x="6647688" y="334670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4%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303520" y="387705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0" y="3877056"/>
            <a:ext cx="68763" cy="118872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24928" y="322783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71232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Sales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8915400" y="334670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4%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7571232" y="387705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71232" y="3877056"/>
            <a:ext cx="68763" cy="118872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92640" y="322783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38944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</a:t>
            </a:r>
            <a:endParaRPr lang="en-US" sz="880" dirty="0"/>
          </a:p>
        </p:txBody>
      </p:sp>
      <p:sp>
        <p:nvSpPr>
          <p:cNvPr id="53" name="Text 51"/>
          <p:cNvSpPr txBox="1"/>
          <p:nvPr/>
        </p:nvSpPr>
        <p:spPr>
          <a:xfrm>
            <a:off x="11183112" y="334670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4%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9838944" y="387705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38944" y="3877056"/>
            <a:ext cx="68763" cy="118872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" y="44622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8096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</a:t>
            </a:r>
            <a:endParaRPr lang="en-US" sz="880" dirty="0"/>
          </a:p>
        </p:txBody>
      </p:sp>
      <p:sp>
        <p:nvSpPr>
          <p:cNvPr id="58" name="Text 56"/>
          <p:cNvSpPr txBox="1"/>
          <p:nvPr/>
        </p:nvSpPr>
        <p:spPr>
          <a:xfrm>
            <a:off x="2112264" y="458114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980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3%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768096" y="511149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" y="5111496"/>
            <a:ext cx="51572" cy="118872"/>
          </a:xfrm>
          <a:prstGeom prst="roundRect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889504" y="44622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035808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Localization</a:t>
            </a:r>
            <a:endParaRPr lang="en-US" sz="880" dirty="0"/>
          </a:p>
        </p:txBody>
      </p:sp>
      <p:sp>
        <p:nvSpPr>
          <p:cNvPr id="63" name="Text 61"/>
          <p:cNvSpPr txBox="1"/>
          <p:nvPr/>
        </p:nvSpPr>
        <p:spPr>
          <a:xfrm>
            <a:off x="4379976" y="458114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980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9%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3035808" y="511149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35808" y="5111496"/>
            <a:ext cx="154716" cy="118872"/>
          </a:xfrm>
          <a:prstGeom prst="roundRect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57216" y="44622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303520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&amp; Audit</a:t>
            </a:r>
            <a:endParaRPr lang="en-US" sz="880" dirty="0"/>
          </a:p>
        </p:txBody>
      </p:sp>
      <p:sp>
        <p:nvSpPr>
          <p:cNvPr id="68" name="Text 66"/>
          <p:cNvSpPr txBox="1"/>
          <p:nvPr/>
        </p:nvSpPr>
        <p:spPr>
          <a:xfrm>
            <a:off x="6647688" y="458114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43%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303520" y="511149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03520" y="5111496"/>
            <a:ext cx="739201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24928" y="44622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571232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Integrations</a:t>
            </a:r>
            <a:endParaRPr lang="en-US" sz="880" dirty="0"/>
          </a:p>
        </p:txBody>
      </p:sp>
      <p:sp>
        <p:nvSpPr>
          <p:cNvPr id="73" name="Text 71"/>
          <p:cNvSpPr txBox="1"/>
          <p:nvPr/>
        </p:nvSpPr>
        <p:spPr>
          <a:xfrm>
            <a:off x="8915400" y="458114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3B82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14%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7571232" y="511149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71232" y="5111496"/>
            <a:ext cx="240670" cy="118872"/>
          </a:xfrm>
          <a:prstGeom prst="round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92640" y="4462272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838944" y="45902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Migration &amp; Onboarding</a:t>
            </a:r>
            <a:endParaRPr lang="en-US" sz="880" dirty="0"/>
          </a:p>
        </p:txBody>
      </p:sp>
      <p:sp>
        <p:nvSpPr>
          <p:cNvPr id="78" name="Text 76"/>
          <p:cNvSpPr txBox="1"/>
          <p:nvPr/>
        </p:nvSpPr>
        <p:spPr>
          <a:xfrm>
            <a:off x="11183112" y="4581144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D980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4%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9838944" y="5111496"/>
            <a:ext cx="1719072" cy="118872"/>
          </a:xfrm>
          <a:prstGeom prst="round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38944" y="5111496"/>
            <a:ext cx="68763" cy="118872"/>
          </a:xfrm>
          <a:prstGeom prst="roundRect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1792" y="5742432"/>
            <a:ext cx="11000232" cy="420624"/>
          </a:xfrm>
          <a:prstGeom prst="roundRect">
            <a:avLst/>
          </a:prstGeom>
          <a:solidFill>
            <a:srgbClr val="E4F0F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41248" y="5833872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44D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Interpretation: foundation domains are materially mature; transactional ERP engines remain early in source implementation despite completed BRDs.</a:t>
            </a:r>
            <a:endParaRPr lang="en-US" sz="870" dirty="0"/>
          </a:p>
        </p:txBody>
      </p:sp>
      <p:sp>
        <p:nvSpPr>
          <p:cNvPr id="83" name="Text 81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docs/staticts.md production-capability estimates • 11 Aug 2026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 SYSTEM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 decides what is authorized; GitHub proves what was delivered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uses bounded increments, reviewable PRs and evidence-based progression instead of large untraceable work packages.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67712"/>
            <a:ext cx="1984248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1.5999999999999997e+7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487168"/>
            <a:ext cx="512064" cy="512064"/>
          </a:xfrm>
          <a:prstGeom prst="ellipse">
            <a:avLst/>
          </a:prstGeom>
          <a:solidFill>
            <a:srgbClr val="2684FF"/>
          </a:solidFill>
          <a:ln w="12700">
            <a:solidFill>
              <a:srgbClr val="268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046" y="2599822"/>
            <a:ext cx="286756" cy="286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0392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Scope &amp; gate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35844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BRD, decision register, DoR and explicit exclusions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97480" y="3227832"/>
            <a:ext cx="128016" cy="0"/>
          </a:xfrm>
          <a:prstGeom prst="line">
            <a:avLst/>
          </a:prstGeom>
          <a:noFill/>
          <a:ln w="2413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80360" y="2267712"/>
            <a:ext cx="1984248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1.5999999999999996e+8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4952" y="2487168"/>
            <a:ext cx="512064" cy="512064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7606" y="2599822"/>
            <a:ext cx="286756" cy="2867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44952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Bounded task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044952" y="35844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task/session with a hard stop boundary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892040" y="3227832"/>
            <a:ext cx="128016" cy="0"/>
          </a:xfrm>
          <a:prstGeom prst="line">
            <a:avLst/>
          </a:prstGeom>
          <a:noFill/>
          <a:ln w="2413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74920" y="2267712"/>
            <a:ext cx="1984248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1.5999999999999997e+89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39512" y="2487168"/>
            <a:ext cx="512064" cy="512064"/>
          </a:xfrm>
          <a:prstGeom prst="ellipse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2166" y="2599822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39512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PR &amp; review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239512" y="35844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Task-related diff, reviewer evidence and merge provenance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086600" y="3227832"/>
            <a:ext cx="128016" cy="0"/>
          </a:xfrm>
          <a:prstGeom prst="line">
            <a:avLst/>
          </a:prstGeom>
          <a:noFill/>
          <a:ln w="2413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269480" y="2267712"/>
            <a:ext cx="1984248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1.5999999999999997e+94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34072" y="2487168"/>
            <a:ext cx="512064" cy="512064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6726" y="2599822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34072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Validation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434072" y="35844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Build, focused tests, architecture and isolation checks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9281160" y="3227832"/>
            <a:ext cx="128016" cy="0"/>
          </a:xfrm>
          <a:prstGeom prst="line">
            <a:avLst/>
          </a:prstGeom>
          <a:noFill/>
          <a:ln w="2413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9464040" y="2267712"/>
            <a:ext cx="1984248" cy="1929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1.5999999999999998e+99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628632" y="2487168"/>
            <a:ext cx="512064" cy="512064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41286" y="2599822"/>
            <a:ext cx="286756" cy="28675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28632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 Reconcile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628632" y="3584448"/>
            <a:ext cx="1636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 evidence, project state, statistics and next handoff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85800" y="4645152"/>
            <a:ext cx="338328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1.5999999999999997e+104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86968" y="4846320"/>
            <a:ext cx="457200" cy="457200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7552" y="494690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444752" y="4818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/ isolation stop conditions</a:t>
            </a:r>
            <a:endParaRPr lang="en-US" sz="1120" dirty="0"/>
          </a:p>
        </p:txBody>
      </p:sp>
      <p:sp>
        <p:nvSpPr>
          <p:cNvPr id="39" name="Text 31"/>
          <p:cNvSpPr txBox="1"/>
          <p:nvPr/>
        </p:nvSpPr>
        <p:spPr>
          <a:xfrm>
            <a:off x="1444752" y="514807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Cross-tenant leakage, unsafe authorization, data-loss risk or unapproved production behavior stops the session.</a:t>
            </a:r>
            <a:endParaRPr lang="en-US" sz="870" dirty="0"/>
          </a:p>
        </p:txBody>
      </p:sp>
      <p:sp>
        <p:nvSpPr>
          <p:cNvPr id="40" name="Shape 32"/>
          <p:cNvSpPr/>
          <p:nvPr/>
        </p:nvSpPr>
        <p:spPr>
          <a:xfrm>
            <a:off x="4398264" y="4645152"/>
            <a:ext cx="338328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1.5999999999999996e+109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99432" y="4846320"/>
            <a:ext cx="457200" cy="457200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00016" y="4946904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157216" y="4818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before completion</a:t>
            </a:r>
            <a:endParaRPr lang="en-US" sz="1120" dirty="0"/>
          </a:p>
        </p:txBody>
      </p:sp>
      <p:sp>
        <p:nvSpPr>
          <p:cNvPr id="44" name="Text 35"/>
          <p:cNvSpPr txBox="1"/>
          <p:nvPr/>
        </p:nvSpPr>
        <p:spPr>
          <a:xfrm>
            <a:off x="5157216" y="514807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Tests and PR/Jira evidence are part of “done”; documentation alone does not inflate production completion.</a:t>
            </a:r>
            <a:endParaRPr lang="en-US" sz="870" dirty="0"/>
          </a:p>
        </p:txBody>
      </p:sp>
      <p:sp>
        <p:nvSpPr>
          <p:cNvPr id="45" name="Shape 36"/>
          <p:cNvSpPr/>
          <p:nvPr/>
        </p:nvSpPr>
        <p:spPr>
          <a:xfrm>
            <a:off x="8110728" y="4645152"/>
            <a:ext cx="338328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1.5999999999999998e+114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8311896" y="4846320"/>
            <a:ext cx="457200" cy="457200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12480" y="4946904"/>
            <a:ext cx="256032" cy="25603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869680" y="48188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review checkpoints</a:t>
            </a:r>
            <a:endParaRPr lang="en-US" sz="1120" dirty="0"/>
          </a:p>
        </p:txBody>
      </p:sp>
      <p:sp>
        <p:nvSpPr>
          <p:cNvPr id="49" name="Text 39"/>
          <p:cNvSpPr txBox="1"/>
          <p:nvPr/>
        </p:nvSpPr>
        <p:spPr>
          <a:xfrm>
            <a:off x="8869680" y="5148072"/>
            <a:ext cx="2423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architecture/security/financial boundaries receive explicit review and correction loops.</a:t>
            </a:r>
            <a:endParaRPr lang="en-US" sz="870" dirty="0"/>
          </a:p>
        </p:txBody>
      </p:sp>
      <p:sp>
        <p:nvSpPr>
          <p:cNvPr id="50" name="Text 40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+ GitHub project sources • 11 Aug 2026</a:t>
            </a:r>
            <a:endParaRPr lang="en-US" sz="750" dirty="0"/>
          </a:p>
        </p:txBody>
      </p:sp>
      <p:sp>
        <p:nvSpPr>
          <p:cNvPr id="51" name="Text 41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DELIVERY MILESTONES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already materially established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foundation is deep; visible ERP transaction functionality now builds on a much stronger safety and governance base.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852928"/>
            <a:ext cx="10177272" cy="0"/>
          </a:xfrm>
          <a:prstGeom prst="line">
            <a:avLst/>
          </a:prstGeom>
          <a:noFill/>
          <a:ln w="38100">
            <a:solidFill>
              <a:srgbClr val="D4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06624"/>
            <a:ext cx="283464" cy="283464"/>
          </a:xfrm>
          <a:prstGeom prst="ellipse">
            <a:avLst/>
          </a:prstGeom>
          <a:solidFill>
            <a:srgbClr val="1F9D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" y="20848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8600" y="3136392"/>
            <a:ext cx="14813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" y="331012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Tenant isolation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Identity / auth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/ audit / shell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907792" y="2706624"/>
            <a:ext cx="283464" cy="283464"/>
          </a:xfrm>
          <a:prstGeom prst="ellipse">
            <a:avLst/>
          </a:prstGeom>
          <a:solidFill>
            <a:srgbClr val="0B7E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20848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Data base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2313432" y="3136392"/>
            <a:ext cx="14813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41448" y="331012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 &amp; UOM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Identity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992624" y="2706624"/>
            <a:ext cx="283464" cy="283464"/>
          </a:xfrm>
          <a:prstGeom prst="ellipse">
            <a:avLst/>
          </a:prstGeom>
          <a:solidFill>
            <a:srgbClr val="0B7E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20848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Parties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398264" y="3136392"/>
            <a:ext cx="14813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31012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Supplier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Customer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077456" y="2706624"/>
            <a:ext cx="283464" cy="283464"/>
          </a:xfrm>
          <a:prstGeom prst="ellipse">
            <a:avLst/>
          </a:prstGeom>
          <a:solidFill>
            <a:srgbClr val="3B82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92824" y="20848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B82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BRDs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483096" y="3136392"/>
            <a:ext cx="14813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11112" y="331012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Procurement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Inventory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162288" y="2706624"/>
            <a:ext cx="283464" cy="283464"/>
          </a:xfrm>
          <a:prstGeom prst="ellipse">
            <a:avLst/>
          </a:prstGeom>
          <a:solidFill>
            <a:srgbClr val="1F9D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77656" y="20848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Sales BRD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567928" y="3136392"/>
            <a:ext cx="148132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95944" y="331012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Sales &amp;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Order-to-Cash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713232" y="4590288"/>
            <a:ext cx="2606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1.5999999999999998e+11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4590288"/>
            <a:ext cx="64008" cy="1280160"/>
          </a:xfrm>
          <a:prstGeom prst="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9264" y="47457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85%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 &amp; technical foundation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69264" y="5504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9B7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Mature base for downstream modules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547872" y="4590288"/>
            <a:ext cx="2606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1.5999999999999997e+12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47872" y="4590288"/>
            <a:ext cx="64008" cy="1280160"/>
          </a:xfrm>
          <a:prstGeom prst="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03904" y="47457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3803904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Data lifecycle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803904" y="5504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9B7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bounded implementation slices completed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6382512" y="4590288"/>
            <a:ext cx="26060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1.5999999999999998e+129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82512" y="4590288"/>
            <a:ext cx="64008" cy="128016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38544" y="474573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 #51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6638544" y="5230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Latest merged delivery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638544" y="5504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9B7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B2B Sales BRD baseline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9217152" y="4590288"/>
            <a:ext cx="2240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1.5999999999999998e+134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17152" y="4590288"/>
            <a:ext cx="64008" cy="1280160"/>
          </a:xfrm>
          <a:prstGeom prst="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73184" y="47457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670/670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9473184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Non-SQL validation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473184" y="5504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A9B7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 safety suite remains separately gated</a:t>
            </a:r>
            <a:endParaRPr lang="en-US" sz="820" dirty="0"/>
          </a:p>
        </p:txBody>
      </p:sp>
      <p:sp>
        <p:nvSpPr>
          <p:cNvPr id="47" name="Text 45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GitHub PR history + docs/staticts.md + live Jira • 11 Aug 2026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HANDOFF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&amp; Analytics is now the active domain BRD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has completed the approved BRD sequence through B2B Sales and moved to the reporting layer.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57400"/>
            <a:ext cx="3675888" cy="3401568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22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MESP-36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7413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F0F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&amp; Analytics BRD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005072"/>
            <a:ext cx="1243584" cy="310896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02336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PROGRESS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023360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8E5E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Sequence 11 of 15</a:t>
            </a:r>
            <a:endParaRPr lang="en-US" sz="86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53712"/>
            <a:ext cx="2788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D3E1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Focus: governed dashboards, report catalogue, freshness, authorization and reconciliation ownership.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623620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167128"/>
            <a:ext cx="384048" cy="384048"/>
          </a:xfrm>
          <a:prstGeom prst="ellipse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2251" y="2251619"/>
            <a:ext cx="215067" cy="21506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40680" y="219456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80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961888" y="21671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Localization &amp; Compliance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176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after Reporting</a:t>
            </a:r>
            <a:endParaRPr lang="en-US" sz="770" dirty="0"/>
          </a:p>
        </p:txBody>
      </p:sp>
      <p:sp>
        <p:nvSpPr>
          <p:cNvPr id="20" name="Shape 17"/>
          <p:cNvSpPr/>
          <p:nvPr/>
        </p:nvSpPr>
        <p:spPr>
          <a:xfrm>
            <a:off x="4754880" y="2898648"/>
            <a:ext cx="623620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3008376"/>
            <a:ext cx="384048" cy="384048"/>
          </a:xfrm>
          <a:prstGeom prst="ellipse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2251" y="3092867"/>
            <a:ext cx="215067" cy="21506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40680" y="3035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5961888" y="30083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Security, Audit &amp; Data Governance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9326880" y="3017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Planned domain BRD sequence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4754880" y="3739896"/>
            <a:ext cx="623620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37760" y="3849624"/>
            <a:ext cx="384048" cy="384048"/>
          </a:xfrm>
          <a:prstGeom prst="ellipse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2251" y="3934115"/>
            <a:ext cx="215067" cy="21506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440680" y="387705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961888" y="38496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Integrations &amp; External Services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9326880" y="3858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Planned domain BRD sequence</a:t>
            </a:r>
            <a:endParaRPr lang="en-US" sz="770" dirty="0"/>
          </a:p>
        </p:txBody>
      </p:sp>
      <p:sp>
        <p:nvSpPr>
          <p:cNvPr id="32" name="Shape 27"/>
          <p:cNvSpPr/>
          <p:nvPr/>
        </p:nvSpPr>
        <p:spPr>
          <a:xfrm>
            <a:off x="4754880" y="4581144"/>
            <a:ext cx="6236208" cy="649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937760" y="4690872"/>
            <a:ext cx="384048" cy="384048"/>
          </a:xfrm>
          <a:prstGeom prst="ellipse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2251" y="4775363"/>
            <a:ext cx="215067" cy="21506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440680" y="47183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5961888" y="4690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Migration &amp; Tenant Onboarding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9326880" y="47000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Planned domain BRD sequence</a:t>
            </a:r>
            <a:endParaRPr lang="en-US" sz="770" dirty="0"/>
          </a:p>
        </p:txBody>
      </p:sp>
      <p:sp>
        <p:nvSpPr>
          <p:cNvPr id="38" name="Shape 32"/>
          <p:cNvSpPr/>
          <p:nvPr/>
        </p:nvSpPr>
        <p:spPr>
          <a:xfrm>
            <a:off x="4754880" y="5559552"/>
            <a:ext cx="6236208" cy="548640"/>
          </a:xfrm>
          <a:prstGeom prst="roundRect">
            <a:avLst/>
          </a:prstGeom>
          <a:solidFill>
            <a:srgbClr val="F8EFD9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937760" y="5641848"/>
            <a:ext cx="329184" cy="329184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0180" y="5714268"/>
            <a:ext cx="184343" cy="18434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385816" y="5614416"/>
            <a:ext cx="5358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684D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MESP-23 remains the living Open Questions Register — unresolved decisions stay visible rather than being silently assumed.</a:t>
            </a:r>
            <a:endParaRPr lang="en-US" sz="830" dirty="0"/>
          </a:p>
        </p:txBody>
      </p:sp>
      <p:sp>
        <p:nvSpPr>
          <p:cNvPr id="42" name="Text 35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live Jira at 05:51 + repository tracker • 11 Aug 2026</a:t>
            </a:r>
            <a:endParaRPr lang="en-US" sz="750" dirty="0"/>
          </a:p>
        </p:txBody>
      </p:sp>
      <p:sp>
        <p:nvSpPr>
          <p:cNvPr id="43" name="Text 36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LAUNCH READINESS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controls are explicit gates — not hidden inside feature completion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Functional progress can continue, but dependent production claims remain blocked until external evidence and infrastructure decisions are closed.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pic>
        <p:nvPicPr>
          <p:cNvPr id="6" name="Image 0" descr="/mnt/data/mesp_saudi_warehouse.png">    </p:cNvPr>
          <p:cNvPicPr>
            <a:picLocks noChangeAspect="1"/>
          </p:cNvPicPr>
          <p:nvPr/>
        </p:nvPicPr>
        <p:blipFill>
          <a:blip r:embed="rId1"/>
          <a:srcRect l="6606" r="6606" t="0" b="0"/>
          <a:stretch/>
        </p:blipFill>
        <p:spPr>
          <a:xfrm>
            <a:off x="658368" y="2057400"/>
            <a:ext cx="3063240" cy="35295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800600"/>
            <a:ext cx="3063240" cy="786384"/>
          </a:xfrm>
          <a:prstGeom prst="rect">
            <a:avLst/>
          </a:prstGeom>
          <a:solidFill>
            <a:srgbClr val="0B132B">
              <a:alpha val="94000"/>
            </a:srgbClr>
          </a:solidFill>
          <a:ln w="12700">
            <a:solidFill>
              <a:srgbClr val="0B132B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" y="493776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Saudi-first validation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Saudi-only core code</a:t>
            </a:r>
            <a:endParaRPr lang="en-US" sz="1110" dirty="0"/>
          </a:p>
        </p:txBody>
      </p:sp>
      <p:sp>
        <p:nvSpPr>
          <p:cNvPr id="9" name="Shape 6"/>
          <p:cNvSpPr/>
          <p:nvPr/>
        </p:nvSpPr>
        <p:spPr>
          <a:xfrm>
            <a:off x="4078224" y="2039112"/>
            <a:ext cx="70591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1.5999999999999998e+13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2240280"/>
            <a:ext cx="457200" cy="457200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9976" y="23408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37176" y="2212848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Arabic / English / RTL</a:t>
            </a:r>
            <a:endParaRPr lang="en-US" sz="1120" dirty="0"/>
          </a:p>
        </p:txBody>
      </p:sp>
      <p:sp>
        <p:nvSpPr>
          <p:cNvPr id="13" name="Text 9"/>
          <p:cNvSpPr txBox="1"/>
          <p:nvPr/>
        </p:nvSpPr>
        <p:spPr>
          <a:xfrm>
            <a:off x="4837176" y="2542032"/>
            <a:ext cx="609904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requirement; full business-screen coverage still ahead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4078224" y="2752344"/>
            <a:ext cx="70591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1.5999999999999997e+144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79392" y="2953512"/>
            <a:ext cx="457200" cy="457200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9976" y="30540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37176" y="2926080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SAR + multi-currency</a:t>
            </a:r>
            <a:endParaRPr lang="en-US" sz="1120" dirty="0"/>
          </a:p>
        </p:txBody>
      </p:sp>
      <p:sp>
        <p:nvSpPr>
          <p:cNvPr id="18" name="Text 13"/>
          <p:cNvSpPr txBox="1"/>
          <p:nvPr/>
        </p:nvSpPr>
        <p:spPr>
          <a:xfrm>
            <a:off x="4837176" y="3255264"/>
            <a:ext cx="609904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 approved; rate-source/process decision remains open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4078224" y="3465576"/>
            <a:ext cx="70591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1.5999999999999996e+149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79392" y="3666744"/>
            <a:ext cx="457200" cy="457200"/>
          </a:xfrm>
          <a:prstGeom prst="ellipse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9976" y="376732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37176" y="3639312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 &amp; e-invoicing</a:t>
            </a:r>
            <a:endParaRPr lang="en-US" sz="1120" dirty="0"/>
          </a:p>
        </p:txBody>
      </p:sp>
      <p:sp>
        <p:nvSpPr>
          <p:cNvPr id="23" name="Text 17"/>
          <p:cNvSpPr txBox="1"/>
          <p:nvPr/>
        </p:nvSpPr>
        <p:spPr>
          <a:xfrm>
            <a:off x="4837176" y="3968496"/>
            <a:ext cx="609904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invoice/FATOORA launch scope requires external validation</a:t>
            </a:r>
            <a:endParaRPr lang="en-US" sz="870" dirty="0"/>
          </a:p>
        </p:txBody>
      </p:sp>
      <p:sp>
        <p:nvSpPr>
          <p:cNvPr id="24" name="Shape 18"/>
          <p:cNvSpPr/>
          <p:nvPr/>
        </p:nvSpPr>
        <p:spPr>
          <a:xfrm>
            <a:off x="4078224" y="4178808"/>
            <a:ext cx="70591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1.5999999999999997e+154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79392" y="4379976"/>
            <a:ext cx="457200" cy="457200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9976" y="448056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837176" y="4352544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Privacy / residency</a:t>
            </a:r>
            <a:endParaRPr lang="en-US" sz="1120" dirty="0"/>
          </a:p>
        </p:txBody>
      </p:sp>
      <p:sp>
        <p:nvSpPr>
          <p:cNvPr id="28" name="Text 21"/>
          <p:cNvSpPr txBox="1"/>
          <p:nvPr/>
        </p:nvSpPr>
        <p:spPr>
          <a:xfrm>
            <a:off x="4837176" y="4681728"/>
            <a:ext cx="609904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Retention, residency, legal hold, backup/recovery remain production gates</a:t>
            </a:r>
            <a:endParaRPr lang="en-US" sz="870" dirty="0"/>
          </a:p>
        </p:txBody>
      </p:sp>
      <p:sp>
        <p:nvSpPr>
          <p:cNvPr id="29" name="Shape 22"/>
          <p:cNvSpPr/>
          <p:nvPr/>
        </p:nvSpPr>
        <p:spPr>
          <a:xfrm>
            <a:off x="4078224" y="4892040"/>
            <a:ext cx="70591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1.5999999999999997e+159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79392" y="5093208"/>
            <a:ext cx="457200" cy="457200"/>
          </a:xfrm>
          <a:prstGeom prst="ellipse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79976" y="519379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837176" y="5065776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/ reconciliation</a:t>
            </a:r>
            <a:endParaRPr lang="en-US" sz="1120" dirty="0"/>
          </a:p>
        </p:txBody>
      </p:sp>
      <p:sp>
        <p:nvSpPr>
          <p:cNvPr id="33" name="Text 25"/>
          <p:cNvSpPr txBox="1"/>
          <p:nvPr/>
        </p:nvSpPr>
        <p:spPr>
          <a:xfrm>
            <a:off x="4837176" y="5394960"/>
            <a:ext cx="609904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Evidence-first design; reporting must reconcile to posted transactions</a:t>
            </a:r>
            <a:endParaRPr lang="en-US" sz="870" dirty="0"/>
          </a:p>
        </p:txBody>
      </p:sp>
      <p:sp>
        <p:nvSpPr>
          <p:cNvPr id="34" name="Shape 26"/>
          <p:cNvSpPr/>
          <p:nvPr/>
        </p:nvSpPr>
        <p:spPr>
          <a:xfrm>
            <a:off x="4078224" y="5742432"/>
            <a:ext cx="7059168" cy="429768"/>
          </a:xfrm>
          <a:prstGeom prst="roundRect">
            <a:avLst/>
          </a:prstGeom>
          <a:solidFill>
            <a:srgbClr val="F8E3DF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4297680" y="5833872"/>
            <a:ext cx="6601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30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production/external gates: MESP-48 • MESP-49 • MESP-50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658368" y="63002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A9B7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reference: ArabsStock Saudi warehouse technology image</a:t>
            </a:r>
            <a:endParaRPr lang="en-US" sz="640" dirty="0"/>
          </a:p>
        </p:txBody>
      </p:sp>
      <p:sp>
        <p:nvSpPr>
          <p:cNvPr id="37" name="Text 29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+ GitHub project sources • 11 Aug 2026</a:t>
            </a:r>
            <a:endParaRPr lang="en-US" sz="750" dirty="0"/>
          </a:p>
        </p:txBody>
      </p:sp>
      <p:sp>
        <p:nvSpPr>
          <p:cNvPr id="38" name="Text 30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FORWARD ROADMAP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business baselines to end-to-end production capability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next acceleration point is implementation of the transaction engines on top of the established safety foundation.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57984"/>
            <a:ext cx="206654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1.5999999999999996e+16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95728"/>
            <a:ext cx="786384" cy="310896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140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NOW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 + BRD sequence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85032"/>
            <a:ext cx="1737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Reporting, Saudi, Security/Audit, Integrations and Migration business baselines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743200" y="3529584"/>
            <a:ext cx="54864" cy="0"/>
          </a:xfrm>
          <a:prstGeom prst="line">
            <a:avLst/>
          </a:prstGeom>
          <a:noFill/>
          <a:ln w="2286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2157984"/>
            <a:ext cx="206654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1.5999999999999996e+16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99232" y="2395728"/>
            <a:ext cx="786384" cy="310896"/>
          </a:xfrm>
          <a:prstGeom prst="round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24140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2999232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ERP transaction engines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3685032"/>
            <a:ext cx="1737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Finish Master Data → Procurement → Inventory → Finance → B2B Sales implementation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919472" y="3529584"/>
            <a:ext cx="54864" cy="0"/>
          </a:xfrm>
          <a:prstGeom prst="line">
            <a:avLst/>
          </a:prstGeom>
          <a:noFill/>
          <a:ln w="2286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10912" y="2157984"/>
            <a:ext cx="206654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1.5999999999999996e+17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75504" y="2395728"/>
            <a:ext cx="786384" cy="310896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6944" y="24140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</a:t>
            </a:r>
            <a:endParaRPr lang="en-US" sz="84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Angular + Reporting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3685032"/>
            <a:ext cx="1737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screens, EN/AR/RTL, report read models and integration contracts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095744" y="3529584"/>
            <a:ext cx="54864" cy="0"/>
          </a:xfrm>
          <a:prstGeom prst="line">
            <a:avLst/>
          </a:prstGeom>
          <a:noFill/>
          <a:ln w="2286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87184" y="2157984"/>
            <a:ext cx="206654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1.5999999999999995e+17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51776" y="2395728"/>
            <a:ext cx="786384" cy="310896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3216" y="24140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HARDEN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 readiness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51776" y="3685032"/>
            <a:ext cx="1737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SQL/provider evidence, performance, security, backup/recovery, observability, migration rehearsals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9272016" y="3529584"/>
            <a:ext cx="54864" cy="0"/>
          </a:xfrm>
          <a:prstGeom prst="line">
            <a:avLst/>
          </a:prstGeom>
          <a:noFill/>
          <a:ln w="22860">
            <a:solidFill>
              <a:srgbClr val="A9B7C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63456" y="2157984"/>
            <a:ext cx="206654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1.5999999999999995e+18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28048" y="2395728"/>
            <a:ext cx="786384" cy="310896"/>
          </a:xfrm>
          <a:prstGeom prst="roundRect">
            <a:avLst/>
          </a:prstGeom>
          <a:solidFill>
            <a:srgbClr val="10213F"/>
          </a:solidFill>
          <a:ln w="12700">
            <a:solidFill>
              <a:srgbClr val="1021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19488" y="2414016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9528048" y="2926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UAT + cutover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528048" y="3685032"/>
            <a:ext cx="17373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validation, tenant onboarding, UAT evidence, go-live checklist and controlled cutover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58368" y="5330952"/>
            <a:ext cx="10771632" cy="658368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" y="5468112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Realistic management planning window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3520440" y="5385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Late Oct → Mid-Nov 2026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388352" y="547725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Planning forecast — not an external delivery commitment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Source: docs/staticts.md realistic scenario / forecast • 11 Aug 2026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 &amp; RISK CONTROL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project is designed to surface uncertainty early</a:t>
            </a:r>
            <a:endParaRPr lang="en-US" sz="26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4358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decisions are governance inputs. Production gates stay visible until qualified evidence exists.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09928"/>
            <a:ext cx="1100023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48256"/>
            <a:ext cx="336499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1.5999999999999995e+18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286000"/>
            <a:ext cx="493776" cy="493776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311" y="2394631"/>
            <a:ext cx="276515" cy="27651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81328" y="22402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decisions</a:t>
            </a:r>
            <a:endParaRPr lang="en-US" sz="1240" dirty="0"/>
          </a:p>
        </p:txBody>
      </p:sp>
      <p:sp>
        <p:nvSpPr>
          <p:cNvPr id="10" name="Shape 7"/>
          <p:cNvSpPr/>
          <p:nvPr/>
        </p:nvSpPr>
        <p:spPr>
          <a:xfrm>
            <a:off x="886968" y="2971800"/>
            <a:ext cx="118872" cy="118872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06424" y="28529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Procurement approvals &amp; delegation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886968" y="3502152"/>
            <a:ext cx="118872" cy="118872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06424" y="33832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Supplier confirmation &amp; match tolerances</a:t>
            </a:r>
            <a:endParaRPr lang="en-US" sz="890" dirty="0"/>
          </a:p>
        </p:txBody>
      </p:sp>
      <p:sp>
        <p:nvSpPr>
          <p:cNvPr id="14" name="Shape 11"/>
          <p:cNvSpPr/>
          <p:nvPr/>
        </p:nvSpPr>
        <p:spPr>
          <a:xfrm>
            <a:off x="886968" y="4032504"/>
            <a:ext cx="118872" cy="118872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06424" y="3913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Inventory tracking / negative stock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886968" y="4562856"/>
            <a:ext cx="118872" cy="118872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06424" y="44439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Credit control &amp; settlement methods</a:t>
            </a:r>
            <a:endParaRPr lang="en-US" sz="890" dirty="0"/>
          </a:p>
        </p:txBody>
      </p:sp>
      <p:sp>
        <p:nvSpPr>
          <p:cNvPr id="18" name="Shape 15"/>
          <p:cNvSpPr/>
          <p:nvPr/>
        </p:nvSpPr>
        <p:spPr>
          <a:xfrm>
            <a:off x="886968" y="5093208"/>
            <a:ext cx="118872" cy="118872"/>
          </a:xfrm>
          <a:prstGeom prst="ellipse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06424" y="4974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catalogue &amp; FX rate source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886968" y="5486400"/>
            <a:ext cx="290779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6968" y="5550408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Gate objective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1664208" y="552297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Resolve before the dependent production claim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4416552" y="2048256"/>
            <a:ext cx="336499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1.5999999999999995e+194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26864" y="2286000"/>
            <a:ext cx="493776" cy="493776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5495" y="2394631"/>
            <a:ext cx="276515" cy="27651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239512" y="22402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 / external</a:t>
            </a:r>
            <a:endParaRPr lang="en-US" sz="1240" dirty="0"/>
          </a:p>
        </p:txBody>
      </p:sp>
      <p:sp>
        <p:nvSpPr>
          <p:cNvPr id="27" name="Shape 23"/>
          <p:cNvSpPr/>
          <p:nvPr/>
        </p:nvSpPr>
        <p:spPr>
          <a:xfrm>
            <a:off x="4645152" y="2971800"/>
            <a:ext cx="118872" cy="118872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64608" y="28529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Saudi e-invoicing &amp; legal/tax validation</a:t>
            </a:r>
            <a:endParaRPr lang="en-US" sz="890" dirty="0"/>
          </a:p>
        </p:txBody>
      </p:sp>
      <p:sp>
        <p:nvSpPr>
          <p:cNvPr id="29" name="Shape 25"/>
          <p:cNvSpPr/>
          <p:nvPr/>
        </p:nvSpPr>
        <p:spPr>
          <a:xfrm>
            <a:off x="4645152" y="3502152"/>
            <a:ext cx="118872" cy="118872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864608" y="33832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Privacy, residency &amp; retention</a:t>
            </a:r>
            <a:endParaRPr lang="en-US" sz="890" dirty="0"/>
          </a:p>
        </p:txBody>
      </p:sp>
      <p:sp>
        <p:nvSpPr>
          <p:cNvPr id="31" name="Shape 27"/>
          <p:cNvSpPr/>
          <p:nvPr/>
        </p:nvSpPr>
        <p:spPr>
          <a:xfrm>
            <a:off x="4645152" y="4032504"/>
            <a:ext cx="118872" cy="118872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64608" y="3913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 volumes / performance evidence</a:t>
            </a:r>
            <a:endParaRPr lang="en-US" sz="890" dirty="0"/>
          </a:p>
        </p:txBody>
      </p:sp>
      <p:sp>
        <p:nvSpPr>
          <p:cNvPr id="33" name="Shape 29"/>
          <p:cNvSpPr/>
          <p:nvPr/>
        </p:nvSpPr>
        <p:spPr>
          <a:xfrm>
            <a:off x="4645152" y="4562856"/>
            <a:ext cx="118872" cy="118872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864608" y="44439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Backup &amp; recovery commitments</a:t>
            </a:r>
            <a:endParaRPr lang="en-US" sz="890" dirty="0"/>
          </a:p>
        </p:txBody>
      </p:sp>
      <p:sp>
        <p:nvSpPr>
          <p:cNvPr id="35" name="Shape 31"/>
          <p:cNvSpPr/>
          <p:nvPr/>
        </p:nvSpPr>
        <p:spPr>
          <a:xfrm>
            <a:off x="4645152" y="5093208"/>
            <a:ext cx="118872" cy="118872"/>
          </a:xfrm>
          <a:prstGeom prst="ellipse">
            <a:avLst/>
          </a:prstGeom>
          <a:solidFill>
            <a:srgbClr val="C85C45"/>
          </a:solidFill>
          <a:ln w="12700">
            <a:solidFill>
              <a:srgbClr val="C85C45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864608" y="4974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Migration source &amp; cutover inputs</a:t>
            </a:r>
            <a:endParaRPr lang="en-US" sz="890" dirty="0"/>
          </a:p>
        </p:txBody>
      </p:sp>
      <p:sp>
        <p:nvSpPr>
          <p:cNvPr id="37" name="Shape 33"/>
          <p:cNvSpPr/>
          <p:nvPr/>
        </p:nvSpPr>
        <p:spPr>
          <a:xfrm>
            <a:off x="4645152" y="5486400"/>
            <a:ext cx="290779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645152" y="5550408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5C4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Gate objective</a:t>
            </a:r>
            <a:endParaRPr lang="en-US" sz="750" dirty="0"/>
          </a:p>
        </p:txBody>
      </p:sp>
      <p:sp>
        <p:nvSpPr>
          <p:cNvPr id="39" name="Text 35"/>
          <p:cNvSpPr txBox="1"/>
          <p:nvPr/>
        </p:nvSpPr>
        <p:spPr>
          <a:xfrm>
            <a:off x="5422392" y="552297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Resolve before the dependent production claim</a:t>
            </a:r>
            <a:endParaRPr lang="en-US" sz="760" dirty="0"/>
          </a:p>
        </p:txBody>
      </p:sp>
      <p:sp>
        <p:nvSpPr>
          <p:cNvPr id="40" name="Shape 36"/>
          <p:cNvSpPr/>
          <p:nvPr/>
        </p:nvSpPr>
        <p:spPr>
          <a:xfrm>
            <a:off x="8174736" y="2048256"/>
            <a:ext cx="336499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EE5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1.5999999999999994e+199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8385048" y="2286000"/>
            <a:ext cx="493776" cy="493776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3679" y="2394631"/>
            <a:ext cx="276515" cy="276515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997696" y="22402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0B13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Engineering controls</a:t>
            </a:r>
            <a:endParaRPr lang="en-US" sz="1240" dirty="0"/>
          </a:p>
        </p:txBody>
      </p:sp>
      <p:sp>
        <p:nvSpPr>
          <p:cNvPr id="44" name="Shape 39"/>
          <p:cNvSpPr/>
          <p:nvPr/>
        </p:nvSpPr>
        <p:spPr>
          <a:xfrm>
            <a:off x="8403336" y="2971800"/>
            <a:ext cx="118872" cy="11887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8622792" y="28529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Server-derived tenant authority</a:t>
            </a:r>
            <a:endParaRPr lang="en-US" sz="890" dirty="0"/>
          </a:p>
        </p:txBody>
      </p:sp>
      <p:sp>
        <p:nvSpPr>
          <p:cNvPr id="46" name="Shape 41"/>
          <p:cNvSpPr/>
          <p:nvPr/>
        </p:nvSpPr>
        <p:spPr>
          <a:xfrm>
            <a:off x="8403336" y="3502152"/>
            <a:ext cx="118872" cy="11887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622792" y="33832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cross-module table mutation</a:t>
            </a:r>
            <a:endParaRPr lang="en-US" sz="890" dirty="0"/>
          </a:p>
        </p:txBody>
      </p:sp>
      <p:sp>
        <p:nvSpPr>
          <p:cNvPr id="48" name="Shape 43"/>
          <p:cNvSpPr/>
          <p:nvPr/>
        </p:nvSpPr>
        <p:spPr>
          <a:xfrm>
            <a:off x="8403336" y="4032504"/>
            <a:ext cx="118872" cy="11887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622792" y="39136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Optimistic concurrency / idempotency</a:t>
            </a:r>
            <a:endParaRPr lang="en-US" sz="890" dirty="0"/>
          </a:p>
        </p:txBody>
      </p:sp>
      <p:sp>
        <p:nvSpPr>
          <p:cNvPr id="50" name="Shape 45"/>
          <p:cNvSpPr/>
          <p:nvPr/>
        </p:nvSpPr>
        <p:spPr>
          <a:xfrm>
            <a:off x="8403336" y="4562856"/>
            <a:ext cx="118872" cy="11887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622792" y="444398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Append-before-effect audit evidence</a:t>
            </a:r>
            <a:endParaRPr lang="en-US" sz="890" dirty="0"/>
          </a:p>
        </p:txBody>
      </p:sp>
      <p:sp>
        <p:nvSpPr>
          <p:cNvPr id="52" name="Shape 47"/>
          <p:cNvSpPr/>
          <p:nvPr/>
        </p:nvSpPr>
        <p:spPr>
          <a:xfrm>
            <a:off x="8403336" y="5093208"/>
            <a:ext cx="118872" cy="118872"/>
          </a:xfrm>
          <a:prstGeom prst="ellipse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622792" y="49743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548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Bounded PR + targeted validation</a:t>
            </a:r>
            <a:endParaRPr lang="en-US" sz="890" dirty="0"/>
          </a:p>
        </p:txBody>
      </p:sp>
      <p:sp>
        <p:nvSpPr>
          <p:cNvPr id="54" name="Shape 49"/>
          <p:cNvSpPr/>
          <p:nvPr/>
        </p:nvSpPr>
        <p:spPr>
          <a:xfrm>
            <a:off x="8403336" y="5486400"/>
            <a:ext cx="2907792" cy="0"/>
          </a:xfrm>
          <a:prstGeom prst="line">
            <a:avLst/>
          </a:prstGeom>
          <a:noFill/>
          <a:ln w="12700">
            <a:solidFill>
              <a:srgbClr val="D4DEE5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403336" y="5550408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objective</a:t>
            </a:r>
            <a:endParaRPr lang="en-US" sz="750" dirty="0"/>
          </a:p>
        </p:txBody>
      </p:sp>
      <p:sp>
        <p:nvSpPr>
          <p:cNvPr id="56" name="Text 51"/>
          <p:cNvSpPr txBox="1"/>
          <p:nvPr/>
        </p:nvSpPr>
        <p:spPr>
          <a:xfrm>
            <a:off x="9180576" y="552297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5E718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failures safe, visible and reviewable</a:t>
            </a:r>
            <a:endParaRPr lang="en-US" sz="760" dirty="0"/>
          </a:p>
        </p:txBody>
      </p:sp>
      <p:sp>
        <p:nvSpPr>
          <p:cNvPr id="57" name="Text 52"/>
          <p:cNvSpPr txBox="1"/>
          <p:nvPr/>
        </p:nvSpPr>
        <p:spPr>
          <a:xfrm>
            <a:off x="612648" y="65196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+ GitHub project sources • 11 Aug 2026</a:t>
            </a:r>
            <a:endParaRPr lang="en-US" sz="750" dirty="0"/>
          </a:p>
        </p:txBody>
      </p:sp>
      <p:sp>
        <p:nvSpPr>
          <p:cNvPr id="58" name="Text 53"/>
          <p:cNvSpPr txBox="1"/>
          <p:nvPr/>
        </p:nvSpPr>
        <p:spPr>
          <a:xfrm>
            <a:off x="9189720" y="65196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8C9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 ERP SaaS Platform • Release 1</a:t>
            </a:r>
            <a:endParaRPr lang="en-US" sz="75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STATISTICS</a:t>
            </a:r>
            <a:endParaRPr lang="en-US" sz="96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132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Evidence-based progress — not ticket-count optimism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2618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FD0D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Snapshot: 11 Aug 2026 • Jira live status + repository production-capability tracker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1883664"/>
            <a:ext cx="2148840" cy="2148840"/>
          </a:xfrm>
          <a:prstGeom prst="ellipse">
            <a:avLst/>
          </a:prstGeom>
          <a:solidFill>
            <a:srgbClr val="152B45"/>
          </a:solidFill>
          <a:ln w="101600">
            <a:solidFill>
              <a:srgbClr val="46B7B8">
                <a:alpha val="64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26771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99008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READY</a:t>
            </a:r>
            <a:endParaRPr lang="en-US" sz="92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D5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71% remains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892808"/>
            <a:ext cx="2816352" cy="2148840"/>
          </a:xfrm>
          <a:prstGeom prst="roundRect">
            <a:avLst/>
          </a:prstGeom>
          <a:solidFill>
            <a:srgbClr val="132A43"/>
          </a:solidFill>
          <a:ln w="12700">
            <a:solidFill>
              <a:srgbClr val="2743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286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~55%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06624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Jira-created work complete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1546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BCD0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Important: this is workflow completion, not usable production capability.</a:t>
            </a:r>
            <a:endParaRPr lang="en-US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18836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B7B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Jira status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188366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DCDD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110 total issues • 15 Epics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45936" y="2432304"/>
            <a:ext cx="2282176" cy="310896"/>
          </a:xfrm>
          <a:prstGeom prst="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8112" y="2432304"/>
            <a:ext cx="301419" cy="310896"/>
          </a:xfrm>
          <a:prstGeom prst="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29532" y="2432304"/>
            <a:ext cx="2152996" cy="310896"/>
          </a:xfrm>
          <a:prstGeom prst="rect">
            <a:avLst/>
          </a:prstGeom>
          <a:solidFill>
            <a:srgbClr val="4A6073"/>
          </a:solidFill>
          <a:ln w="12700">
            <a:solidFill>
              <a:srgbClr val="4A60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2980944"/>
            <a:ext cx="155448" cy="155448"/>
          </a:xfrm>
          <a:prstGeom prst="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53 Done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900416" y="2980944"/>
            <a:ext cx="155448" cy="155448"/>
          </a:xfrm>
          <a:prstGeom prst="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In Progress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454896" y="2980944"/>
            <a:ext cx="155448" cy="155448"/>
          </a:xfrm>
          <a:prstGeom prst="rect">
            <a:avLst/>
          </a:prstGeom>
          <a:solidFill>
            <a:srgbClr val="4A6073"/>
          </a:solidFill>
          <a:ln w="12700">
            <a:solidFill>
              <a:srgbClr val="4A607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74352" y="2916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To Do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41071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FC3C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MESP-36 activated after the 05:20 tracker snapshot; live In Progress count therefore includes Reporting.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3163824" y="418795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Architecture</a:t>
            </a:r>
            <a:endParaRPr lang="en-US" sz="860" dirty="0"/>
          </a:p>
        </p:txBody>
      </p:sp>
      <p:sp>
        <p:nvSpPr>
          <p:cNvPr id="26" name="Text 24"/>
          <p:cNvSpPr txBox="1"/>
          <p:nvPr/>
        </p:nvSpPr>
        <p:spPr>
          <a:xfrm>
            <a:off x="5175504" y="418795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85%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163824" y="4498848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3824" y="4498848"/>
            <a:ext cx="2067458" cy="118872"/>
          </a:xfrm>
          <a:prstGeom prst="roundRect">
            <a:avLst/>
          </a:prstGeom>
          <a:solidFill>
            <a:srgbClr val="1F9D78"/>
          </a:solidFill>
          <a:ln w="12700">
            <a:solidFill>
              <a:srgbClr val="1F9D7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34456" y="418795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Backend</a:t>
            </a:r>
            <a:endParaRPr lang="en-US" sz="860" dirty="0"/>
          </a:p>
        </p:txBody>
      </p:sp>
      <p:sp>
        <p:nvSpPr>
          <p:cNvPr id="30" name="Text 28"/>
          <p:cNvSpPr txBox="1"/>
          <p:nvPr/>
        </p:nvSpPr>
        <p:spPr>
          <a:xfrm>
            <a:off x="7946136" y="418795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42%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34456" y="4498848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34456" y="4498848"/>
            <a:ext cx="1021568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05088" y="418795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Database / Persistence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10716768" y="418795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B82C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33%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705088" y="4498848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5088" y="4498848"/>
            <a:ext cx="802660" cy="118872"/>
          </a:xfrm>
          <a:prstGeom prst="round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63824" y="508406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Data</a:t>
            </a:r>
            <a:endParaRPr lang="en-US" sz="860" dirty="0"/>
          </a:p>
        </p:txBody>
      </p:sp>
      <p:sp>
        <p:nvSpPr>
          <p:cNvPr id="38" name="Text 36"/>
          <p:cNvSpPr txBox="1"/>
          <p:nvPr/>
        </p:nvSpPr>
        <p:spPr>
          <a:xfrm>
            <a:off x="5175504" y="508406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0B7E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3163824" y="5394960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63824" y="5394960"/>
            <a:ext cx="972922" cy="118872"/>
          </a:xfrm>
          <a:prstGeom prst="roundRect">
            <a:avLst/>
          </a:prstGeom>
          <a:solidFill>
            <a:srgbClr val="0B7E87"/>
          </a:solidFill>
          <a:ln w="12700">
            <a:solidFill>
              <a:srgbClr val="0B7E8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34456" y="508406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Frontend</a:t>
            </a:r>
            <a:endParaRPr lang="en-US" sz="860" dirty="0"/>
          </a:p>
        </p:txBody>
      </p:sp>
      <p:sp>
        <p:nvSpPr>
          <p:cNvPr id="42" name="Text 40"/>
          <p:cNvSpPr txBox="1"/>
          <p:nvPr/>
        </p:nvSpPr>
        <p:spPr>
          <a:xfrm>
            <a:off x="7946136" y="508406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D9803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15%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934456" y="5394960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34456" y="5394960"/>
            <a:ext cx="364846" cy="118872"/>
          </a:xfrm>
          <a:prstGeom prst="roundRect">
            <a:avLst/>
          </a:prstGeom>
          <a:solidFill>
            <a:srgbClr val="D9803F"/>
          </a:solidFill>
          <a:ln w="12700">
            <a:solidFill>
              <a:srgbClr val="D9803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05088" y="508406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6E2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End-to-End System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10716768" y="508406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D8A8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21%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705088" y="5394960"/>
            <a:ext cx="2432304" cy="118872"/>
          </a:xfrm>
          <a:prstGeom prst="roundRect">
            <a:avLst/>
          </a:prstGeom>
          <a:solidFill>
            <a:srgbClr val="2D4358"/>
          </a:solidFill>
          <a:ln w="12700">
            <a:solidFill>
              <a:srgbClr val="2D435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05088" y="5394960"/>
            <a:ext cx="510784" cy="118872"/>
          </a:xfrm>
          <a:prstGeom prst="roundRect">
            <a:avLst/>
          </a:prstGeom>
          <a:solidFill>
            <a:srgbClr val="D8A84B"/>
          </a:solidFill>
          <a:ln w="12700">
            <a:solidFill>
              <a:srgbClr val="D8A8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4944" y="4873752"/>
            <a:ext cx="2148840" cy="1179576"/>
          </a:xfrm>
          <a:prstGeom prst="roundRect">
            <a:avLst/>
          </a:prstGeom>
          <a:solidFill>
            <a:srgbClr val="132A43"/>
          </a:solidFill>
          <a:ln w="12700">
            <a:solidFill>
              <a:srgbClr val="2743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8680" y="5074920"/>
            <a:ext cx="1773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9D7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670 / 670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868680" y="547725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C5D4D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non-SQL validation passed</a:t>
            </a:r>
            <a:endParaRPr lang="en-US" sz="790" dirty="0"/>
          </a:p>
        </p:txBody>
      </p:sp>
      <p:sp>
        <p:nvSpPr>
          <p:cNvPr id="52" name="Text 50"/>
          <p:cNvSpPr txBox="1"/>
          <p:nvPr/>
        </p:nvSpPr>
        <p:spPr>
          <a:xfrm>
            <a:off x="877824" y="575157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3AAB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SQL safety cases remain separately connection-gated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621792" y="6355080"/>
            <a:ext cx="10899648" cy="0"/>
          </a:xfrm>
          <a:prstGeom prst="line">
            <a:avLst/>
          </a:prstGeom>
          <a:noFill/>
          <a:ln w="12700">
            <a:solidFill>
              <a:srgbClr val="31506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368" y="6446520"/>
            <a:ext cx="10753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9CD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Management headline: a mature architecture and governance foundation is in place; the main remaining value is implementation of the ERP transaction engines and production hardening.</a:t>
            </a:r>
            <a:endParaRPr lang="en-US" sz="82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Mini ERP SaaS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ERP SaaS Platform — Release 1 Project Update</dc:title>
  <dc:subject>Mini ERP SaaS Platform Release 1 stakeholder project presentation</dc:subject>
  <dc:creator>OpenAI — prepared from live Mini ERP SaaS Platform Jira and GitHub sources</dc:creator>
  <cp:lastModifiedBy>OpenAI — prepared from live Mini ERP SaaS Platform Jira and GitHub sources</cp:lastModifiedBy>
  <cp:revision>1</cp:revision>
  <dcterms:created xsi:type="dcterms:W3CDTF">2026-08-11T03:00:40Z</dcterms:created>
  <dcterms:modified xsi:type="dcterms:W3CDTF">2026-08-11T03:00:40Z</dcterms:modified>
</cp:coreProperties>
</file>